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476F8-8DB2-42CC-BA9C-57A719B4B0B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32F70-4878-41E8-B3BA-9DF7AAC1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5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658E-9B4B-4967-98C8-448ABE6F1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51F94-805F-4F29-991D-4D7D97D3D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F24E3-EEC7-406D-A2A3-6C3FE050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2ACB-5850-48C9-931A-70BEC79757E9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868E2-F050-466D-8812-00B661C7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EA01-52E5-4F01-89FB-24D01ECD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64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4661-4BCA-49C5-AC51-06B1D996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0E5E-537B-45B9-9D60-3E126AB89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AFCF2-6EAE-45E3-B995-975DD309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86C5-F291-48E1-9296-7F9446614B15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69797-CB27-4DB3-B4A9-E7A919D3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4917-A10F-42B7-8D8A-D2E68A75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3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197C-0F98-4A2D-96C7-2F0B63E1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9390F-2071-4001-BF9A-CCB5F99C7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274AB-BB44-4C0A-B699-DFEF7652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D596-0457-4D13-ACE8-EA5831DE033F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A414-EEB8-44B1-9857-33951805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7FA01-C97A-48A8-8AE3-7E25C9DA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5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8575-71F4-4B45-8E49-FB2CF7F5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51FC4-7F03-47F7-B683-80043A9C1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B5A76-F0C7-4281-A03C-BD36C07FB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FB057-E654-436F-BCBB-F05EFF37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FAEA-CAD3-4B01-80A0-4F9F0703AD9E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FB12F-D8DC-43E8-9CEC-7012FCC2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C8213-71C9-4E7B-8A34-C1F551C4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04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F6CF-11A9-42FC-90B4-7057D57D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AB6C5-7EE5-4F6D-ABDC-AD93BCB0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73A69-80D3-484D-946F-BE450582F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12FBC-03FE-4A4F-B5BF-E9088C469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F08FE-7018-47EA-A1A0-C1575E567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64E06-F8B3-48C3-A22F-02FCA57D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A54-7745-48B4-8393-943A8CA5E034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FC6C0-C626-4513-8444-5FFD1C9D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33697-C131-4C2A-B21D-C801D66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7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1E23-3DD4-435A-B071-FF63ECDA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D97E1-CE5A-45FE-96C8-F4C12B3D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64F5F-40A6-4D8B-B5C2-7451DDC9E25A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DA538-2466-492B-A981-09A9E300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10984-AF42-4C0D-B9BB-0E57F5E6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10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9B00A-84D7-4135-90B8-A3AEB2E8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7903F-557A-43F6-9D97-C24B3F097036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31E0C0-7E49-4CFA-B520-9F3CE223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4EE82-07F0-466B-9A1E-3CF5AD70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7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98B5-C47F-4702-B470-B5F26AE76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42BF-640F-4280-A792-B407B938A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EFAF7-615F-4E51-9C62-21C0FA62B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90D71-B033-4282-92D6-6B7E1A03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5F7A-06A5-4555-A71F-1E7CB8EB8D01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7522C-D001-487A-8562-C0F881C6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ECF35-247F-4013-BBF3-AEDC7860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24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4469-02B6-4F70-80B6-F1AD9B45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EDBEA4-B976-44B9-ACA2-6FAFB5ED8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6EE0C-3A74-44A1-8D7D-E770B471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D48EF-0A5A-4087-945A-6EE62FE8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ECA58-AB6E-4484-9F84-598419479774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28CF-C789-4265-980F-14DDF927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D8D68-CBFB-4262-A1B8-7ECC4114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8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4A14-2286-486B-B54E-259B213B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7FD37-2806-4AC9-877A-842D9A888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5D66F-AFE3-47AA-BA96-A2A58FCA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AEF89-798D-4191-B530-8FD73A1CC48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627A-E181-4FB3-B6C9-F2D74BBD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118B-F91A-4ED6-BEB1-E92C573E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3CF70-F283-4C9E-9896-3220ED42B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9DD68-7C02-4F18-BDE4-FF57DCD41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66D5B-69BC-4C9D-8DFC-1B56A0E5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776D8-9FF9-40B8-B260-A4D969767D67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97DC8-DBC7-4347-94A0-FD05EA09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1B2E6-539C-4BEA-8193-D23A5D47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8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7FB22-DAB7-4802-8829-9DA1A8BD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4F0E3-8772-4F24-A4A3-DD6546A4D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1CDA3-BA60-450E-8A94-2ECA9A61D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0A0FB-4340-422A-BAE0-0FB7218C932F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3632A-6447-4A8D-B486-D231DB71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1CB6E-B708-4D89-A747-C43772352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382C0-1504-4427-B0CB-8387516C1E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1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08A2-E879-461B-9666-C02139E08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291" y="1015841"/>
            <a:ext cx="9395534" cy="689992"/>
          </a:xfrm>
        </p:spPr>
        <p:txBody>
          <a:bodyPr>
            <a:normAutofit fontScale="90000"/>
          </a:bodyPr>
          <a:lstStyle/>
          <a:p>
            <a:r>
              <a:rPr lang="en-US" sz="4000" b="1" u="sng" dirty="0"/>
              <a:t>Enterprise Network Infrastructure </a:t>
            </a:r>
            <a:br>
              <a:rPr lang="en-US" sz="4000" b="1" u="sng" dirty="0"/>
            </a:br>
            <a:r>
              <a:rPr lang="en-US" sz="4000" b="1" u="sng" dirty="0"/>
              <a:t>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D0EAE-4BC1-4C9A-A7BB-6A2CF3231E0B}"/>
              </a:ext>
            </a:extLst>
          </p:cNvPr>
          <p:cNvSpPr txBox="1"/>
          <p:nvPr/>
        </p:nvSpPr>
        <p:spPr>
          <a:xfrm>
            <a:off x="382234" y="1601516"/>
            <a:ext cx="4038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Designed &amp; Implemented by: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36B55-3AAD-4BEB-976A-A95435784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839" y="42121"/>
            <a:ext cx="2755036" cy="2073234"/>
          </a:xfrm>
          <a:prstGeom prst="rect">
            <a:avLst/>
          </a:prstGeo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9A217849-CE94-4A76-ADFE-0CFA253F8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727643"/>
              </p:ext>
            </p:extLst>
          </p:nvPr>
        </p:nvGraphicFramePr>
        <p:xfrm>
          <a:off x="382234" y="2225417"/>
          <a:ext cx="8228366" cy="3396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183">
                  <a:extLst>
                    <a:ext uri="{9D8B030D-6E8A-4147-A177-3AD203B41FA5}">
                      <a16:colId xmlns:a16="http://schemas.microsoft.com/office/drawing/2014/main" val="1453474299"/>
                    </a:ext>
                  </a:extLst>
                </a:gridCol>
                <a:gridCol w="4114183">
                  <a:extLst>
                    <a:ext uri="{9D8B030D-6E8A-4147-A177-3AD203B41FA5}">
                      <a16:colId xmlns:a16="http://schemas.microsoft.com/office/drawing/2014/main" val="156948560"/>
                    </a:ext>
                  </a:extLst>
                </a:gridCol>
              </a:tblGrid>
              <a:tr h="560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31155"/>
                  </a:ext>
                </a:extLst>
              </a:tr>
              <a:tr h="560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Mina Estfanous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21026681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114382"/>
                  </a:ext>
                </a:extLst>
              </a:tr>
              <a:tr h="5686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Ahmed Mahmoud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21020112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656799"/>
                  </a:ext>
                </a:extLst>
              </a:tr>
              <a:tr h="5686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Abdallah Essam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21040042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893963"/>
                  </a:ext>
                </a:extLst>
              </a:tr>
              <a:tr h="5686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Mohamed Bakr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21043984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09508"/>
                  </a:ext>
                </a:extLst>
              </a:tr>
              <a:tr h="5686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Omar Osama Elnahass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21040042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5483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7332730-35CE-4E64-864F-54A0C5DFD610}"/>
              </a:ext>
            </a:extLst>
          </p:cNvPr>
          <p:cNvSpPr txBox="1"/>
          <p:nvPr/>
        </p:nvSpPr>
        <p:spPr>
          <a:xfrm>
            <a:off x="4284956" y="5621493"/>
            <a:ext cx="37463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Instructor:</a:t>
            </a:r>
          </a:p>
          <a:p>
            <a:r>
              <a:rPr lang="en-US" sz="2800" dirty="0"/>
              <a:t>Eng. Ahmed El-Emam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86649EE-4808-4BFA-B606-C6FF88D4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0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DA12-0137-4605-86A8-C187EAFA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D20EC-222C-491B-B411-51B76F13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Our project focuses on designing a complete enterprise network.</a:t>
            </a:r>
          </a:p>
          <a:p>
            <a:pPr>
              <a:lnSpc>
                <a:spcPct val="200000"/>
              </a:lnSpc>
            </a:pPr>
            <a:r>
              <a:rPr lang="en-US" dirty="0"/>
              <a:t>Ensures secure communication between departments.</a:t>
            </a:r>
          </a:p>
          <a:p>
            <a:pPr>
              <a:lnSpc>
                <a:spcPct val="200000"/>
              </a:lnSpc>
            </a:pPr>
            <a:r>
              <a:rPr lang="en-US" dirty="0"/>
              <a:t>Supports routing, switching, servers, and firewall security.</a:t>
            </a:r>
          </a:p>
          <a:p>
            <a:pPr>
              <a:lnSpc>
                <a:spcPct val="200000"/>
              </a:lnSpc>
            </a:pPr>
            <a:r>
              <a:rPr lang="en-US" dirty="0"/>
              <a:t>Built using Huawei devices on eNSP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D4989-87A2-4901-BDA9-3773FE18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9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8B27-B4B8-44F5-8E8F-3CEDAB07B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A9D5-2636-47F8-A68A-2F40505B4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Create a stable and scalable network.</a:t>
            </a:r>
          </a:p>
          <a:p>
            <a:pPr>
              <a:lnSpc>
                <a:spcPct val="150000"/>
              </a:lnSpc>
            </a:pPr>
            <a:r>
              <a:rPr lang="en-US" dirty="0"/>
              <a:t>Enable communication between all VLANs.</a:t>
            </a:r>
          </a:p>
          <a:p>
            <a:pPr>
              <a:lnSpc>
                <a:spcPct val="150000"/>
              </a:lnSpc>
            </a:pPr>
            <a:r>
              <a:rPr lang="en-US" dirty="0"/>
              <a:t>Secure the network using ACL + firewall rules.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 Internet access through ISP.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Automate IP assignment via DHCP.</a:t>
            </a:r>
          </a:p>
          <a:p>
            <a:pPr>
              <a:lnSpc>
                <a:spcPct val="150000"/>
              </a:lnSpc>
            </a:pPr>
            <a:r>
              <a:rPr lang="en-US" dirty="0"/>
              <a:t>Build a future-ready enterprise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B788A-58E4-4227-B050-C9089F4D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2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D8CE-1F2D-4864-A630-0FB325DE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0455E-B80E-4339-8572-26BFA1706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90688"/>
            <a:ext cx="4765040" cy="5167312"/>
          </a:xfrm>
        </p:spPr>
        <p:txBody>
          <a:bodyPr/>
          <a:lstStyle/>
          <a:p>
            <a:r>
              <a:rPr lang="en-US" dirty="0"/>
              <a:t>3-Layer Hierarchy</a:t>
            </a:r>
          </a:p>
          <a:p>
            <a:r>
              <a:rPr lang="en-US" dirty="0"/>
              <a:t>Core Layer: CORE1, CORE2</a:t>
            </a:r>
          </a:p>
          <a:p>
            <a:r>
              <a:rPr lang="en-US" dirty="0"/>
              <a:t>Distribution Layer: Dist1, Dist2</a:t>
            </a:r>
          </a:p>
          <a:p>
            <a:r>
              <a:rPr lang="en-US" dirty="0"/>
              <a:t>Access Layer: ACC1, ACC2, ACC3, ACC4</a:t>
            </a:r>
          </a:p>
          <a:p>
            <a:r>
              <a:rPr lang="en-US" dirty="0"/>
              <a:t>Firewall + ISP Router</a:t>
            </a:r>
          </a:p>
          <a:p>
            <a:r>
              <a:rPr lang="en-US" dirty="0"/>
              <a:t>Server Farm + Client PCs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56148-7B31-4A8D-8719-E820D19DE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924" y="1049712"/>
            <a:ext cx="7847797" cy="580828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B2104-6D24-4B7F-8AF2-593DCF3A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1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C27F-0538-4E42-B67C-4E205E5B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VLAN Design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C94431-A5D2-4121-9CA1-B26D212206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611280"/>
              </p:ext>
            </p:extLst>
          </p:nvPr>
        </p:nvGraphicFramePr>
        <p:xfrm>
          <a:off x="838200" y="1825624"/>
          <a:ext cx="11008360" cy="43821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4180">
                  <a:extLst>
                    <a:ext uri="{9D8B030D-6E8A-4147-A177-3AD203B41FA5}">
                      <a16:colId xmlns:a16="http://schemas.microsoft.com/office/drawing/2014/main" val="1401686136"/>
                    </a:ext>
                  </a:extLst>
                </a:gridCol>
                <a:gridCol w="5504180">
                  <a:extLst>
                    <a:ext uri="{9D8B030D-6E8A-4147-A177-3AD203B41FA5}">
                      <a16:colId xmlns:a16="http://schemas.microsoft.com/office/drawing/2014/main" val="1294427427"/>
                    </a:ext>
                  </a:extLst>
                </a:gridCol>
              </a:tblGrid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Subnet 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289722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192.168.10.0/24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27514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192.168.20.0/24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251841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Management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192.168.30.0/24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06415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Payroll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192.168.40.0/24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946817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Servers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192.168.50.0/24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542465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Backbone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192.168.99.0/24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9046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5B025-EDBD-4DBA-80EA-78282C9F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1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A274-B654-4D8A-B922-76DE752E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13D6-82E8-4469-8C8F-8BE6256D8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VLAN interfaces on CORE1 &amp; CORE2 act as gateways</a:t>
            </a:r>
          </a:p>
          <a:p>
            <a:pPr>
              <a:lnSpc>
                <a:spcPct val="200000"/>
              </a:lnSpc>
            </a:pPr>
            <a:r>
              <a:rPr lang="en-US" dirty="0"/>
              <a:t>Server VLAN uses static IP addresses</a:t>
            </a:r>
          </a:p>
          <a:p>
            <a:pPr>
              <a:lnSpc>
                <a:spcPct val="200000"/>
              </a:lnSpc>
            </a:pPr>
            <a:r>
              <a:rPr lang="en-US" dirty="0"/>
              <a:t>User VLANs rely on DHCP</a:t>
            </a:r>
          </a:p>
          <a:p>
            <a:pPr>
              <a:lnSpc>
                <a:spcPct val="200000"/>
              </a:lnSpc>
            </a:pPr>
            <a:r>
              <a:rPr lang="en-US" dirty="0"/>
              <a:t>Point-to-Point links use /30 networks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6B0B2-88BF-4DDF-B31B-12951EA2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6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F857-479F-451F-8D5B-0055DBF8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Routing (OSPF)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A032-1AB8-4CBA-9511-8780AF81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2"/>
            <a:ext cx="4968240" cy="553243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OSPF Area 0 used across the network Configured between:</a:t>
            </a:r>
          </a:p>
          <a:p>
            <a:pPr>
              <a:lnSpc>
                <a:spcPct val="150000"/>
              </a:lnSpc>
            </a:pPr>
            <a:r>
              <a:rPr lang="en-US" dirty="0"/>
              <a:t>ISP ↔ Firewall </a:t>
            </a:r>
          </a:p>
          <a:p>
            <a:pPr>
              <a:lnSpc>
                <a:spcPct val="150000"/>
              </a:lnSpc>
            </a:pPr>
            <a:r>
              <a:rPr lang="en-US" dirty="0"/>
              <a:t>Firewall ↔ CORE1 </a:t>
            </a:r>
          </a:p>
          <a:p>
            <a:pPr>
              <a:lnSpc>
                <a:spcPct val="150000"/>
              </a:lnSpc>
            </a:pPr>
            <a:r>
              <a:rPr lang="en-US" dirty="0"/>
              <a:t>CORE1 ↔ Dist1, Dist2</a:t>
            </a:r>
          </a:p>
          <a:p>
            <a:pPr>
              <a:lnSpc>
                <a:spcPct val="150000"/>
              </a:lnSpc>
            </a:pPr>
            <a:r>
              <a:rPr lang="en-US" dirty="0"/>
              <a:t>CORE2 ↔ Firewall</a:t>
            </a:r>
          </a:p>
          <a:p>
            <a:pPr>
              <a:lnSpc>
                <a:spcPct val="150000"/>
              </a:lnSpc>
            </a:pPr>
            <a:r>
              <a:rPr lang="en-US" dirty="0"/>
              <a:t>Benefits: Fast convergence ,Dynamic updates ,Loop prevention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15393-C219-42AE-A057-024888D6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B3D7AE-BA61-47A0-A605-F24E6609B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863" y="161132"/>
            <a:ext cx="7129137" cy="619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1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6836-7873-42C7-A58D-FEE3885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25296" cy="1325563"/>
          </a:xfrm>
        </p:spPr>
        <p:txBody>
          <a:bodyPr/>
          <a:lstStyle/>
          <a:p>
            <a:r>
              <a:rPr lang="en-US" dirty="0"/>
              <a:t>Switching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413A1-97C8-48F3-9293-57B8461A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5625296" cy="560466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Trunk links between Core ↔ Distribution ↔ Access</a:t>
            </a:r>
          </a:p>
          <a:p>
            <a:pPr>
              <a:lnSpc>
                <a:spcPct val="200000"/>
              </a:lnSpc>
            </a:pPr>
            <a:r>
              <a:rPr lang="en-US" dirty="0"/>
              <a:t>Access ports assigned to correct VLANs</a:t>
            </a:r>
          </a:p>
          <a:p>
            <a:pPr>
              <a:lnSpc>
                <a:spcPct val="200000"/>
              </a:lnSpc>
            </a:pPr>
            <a:r>
              <a:rPr lang="en-US" dirty="0"/>
              <a:t>Spanning Tree enabled by default</a:t>
            </a:r>
          </a:p>
          <a:p>
            <a:pPr>
              <a:lnSpc>
                <a:spcPct val="200000"/>
              </a:lnSpc>
            </a:pPr>
            <a:r>
              <a:rPr lang="en-US" dirty="0"/>
              <a:t>Supports scalability and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92309-447E-4675-8E48-C0E184F6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A1D29-6C95-40FA-B665-B1CB87D39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4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CE37-2BF1-4F98-BD48-CE63643D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A3447-BD91-4297-987D-585987C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DHCP server configured on CORE1</a:t>
            </a:r>
          </a:p>
          <a:p>
            <a:pPr>
              <a:lnSpc>
                <a:spcPct val="200000"/>
              </a:lnSpc>
            </a:pPr>
            <a:r>
              <a:rPr lang="en-US" dirty="0"/>
              <a:t>Pools created for: HR, IT, Management, Payroll, Servers</a:t>
            </a:r>
          </a:p>
          <a:p>
            <a:pPr>
              <a:lnSpc>
                <a:spcPct val="200000"/>
              </a:lnSpc>
            </a:pPr>
            <a:r>
              <a:rPr lang="en-US" dirty="0"/>
              <a:t>DHCP Relay enabled on Dist1 &amp; Dist2 to forward DHCP requests</a:t>
            </a:r>
          </a:p>
          <a:p>
            <a:pPr>
              <a:lnSpc>
                <a:spcPct val="200000"/>
              </a:lnSpc>
            </a:pPr>
            <a:r>
              <a:rPr lang="en-US" dirty="0"/>
              <a:t>Ensures automatic IP assignment to all PCs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F1523-CFB8-4C68-A40B-FABCCA70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114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17F4-B55C-4261-9A3C-F665B347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(ACL Rules)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30A72-F743-4E21-8E02-23CC2009C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ACL used to:</a:t>
            </a:r>
          </a:p>
          <a:p>
            <a:pPr>
              <a:lnSpc>
                <a:spcPct val="150000"/>
              </a:lnSpc>
            </a:pPr>
            <a:r>
              <a:rPr lang="en-US" dirty="0"/>
              <a:t>Limit access between VLANs</a:t>
            </a:r>
          </a:p>
          <a:p>
            <a:pPr>
              <a:lnSpc>
                <a:spcPct val="150000"/>
              </a:lnSpc>
            </a:pPr>
            <a:r>
              <a:rPr lang="en-US" dirty="0"/>
              <a:t>Allow IT department admin access</a:t>
            </a:r>
          </a:p>
          <a:p>
            <a:pPr>
              <a:lnSpc>
                <a:spcPct val="150000"/>
              </a:lnSpc>
            </a:pPr>
            <a:r>
              <a:rPr lang="en-US" dirty="0"/>
              <a:t>Protect Management VLAN</a:t>
            </a:r>
          </a:p>
          <a:p>
            <a:pPr>
              <a:lnSpc>
                <a:spcPct val="150000"/>
              </a:lnSpc>
            </a:pPr>
            <a:r>
              <a:rPr lang="en-US" dirty="0"/>
              <a:t>Secure backbone VLAN</a:t>
            </a:r>
          </a:p>
          <a:p>
            <a:pPr>
              <a:lnSpc>
                <a:spcPct val="150000"/>
              </a:lnSpc>
            </a:pPr>
            <a:r>
              <a:rPr lang="en-US" dirty="0"/>
              <a:t>Applied on CORE1, CORE2, and Firewall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E962A-D7D9-4396-A8D0-370CE36F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44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7146-9C46-4076-9D75-2C9A5E9E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Firewall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D728-7504-4DCB-AC0A-B27DF74F4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2"/>
            <a:ext cx="5095875" cy="55324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Policies created on FW-HQ:</a:t>
            </a:r>
          </a:p>
          <a:p>
            <a:pPr>
              <a:lnSpc>
                <a:spcPct val="150000"/>
              </a:lnSpc>
            </a:pPr>
            <a:r>
              <a:rPr lang="en-US" dirty="0"/>
              <a:t>Allow internal LAN →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Allow OSPF updates</a:t>
            </a:r>
          </a:p>
          <a:p>
            <a:pPr>
              <a:lnSpc>
                <a:spcPct val="150000"/>
              </a:lnSpc>
            </a:pPr>
            <a:r>
              <a:rPr lang="en-US" dirty="0"/>
              <a:t>Control traffic to/from servers</a:t>
            </a:r>
          </a:p>
          <a:p>
            <a:pPr>
              <a:lnSpc>
                <a:spcPct val="150000"/>
              </a:lnSpc>
            </a:pPr>
            <a:r>
              <a:rPr lang="en-US" dirty="0"/>
              <a:t>Deny unauthorized access</a:t>
            </a:r>
          </a:p>
          <a:p>
            <a:pPr>
              <a:lnSpc>
                <a:spcPct val="150000"/>
              </a:lnSpc>
            </a:pPr>
            <a:r>
              <a:rPr lang="en-US" dirty="0"/>
              <a:t>NAT configured for Internet access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66416-D457-47FB-B120-4041CE2D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FBB25D-8CF5-4BF3-BB81-C7FC1A158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5" y="0"/>
            <a:ext cx="70961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6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08FB-056D-4000-802E-CD12074F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23B7-AEFC-4FD5-B1E1-C73390F4A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VLAN 50 includes:</a:t>
            </a:r>
          </a:p>
          <a:p>
            <a:r>
              <a:rPr lang="en-US" dirty="0"/>
              <a:t>Active Directory Server</a:t>
            </a:r>
          </a:p>
          <a:p>
            <a:r>
              <a:rPr lang="en-US" dirty="0"/>
              <a:t>DHCP Server (optional backup)</a:t>
            </a:r>
          </a:p>
          <a:p>
            <a:r>
              <a:rPr lang="en-US" dirty="0"/>
              <a:t>File Server</a:t>
            </a:r>
          </a:p>
          <a:p>
            <a:r>
              <a:rPr lang="en-US" dirty="0"/>
              <a:t>Monitoring (NMS)</a:t>
            </a:r>
          </a:p>
          <a:p>
            <a:r>
              <a:rPr lang="en-US" dirty="0"/>
              <a:t>Backup Server</a:t>
            </a:r>
          </a:p>
          <a:p>
            <a:r>
              <a:rPr lang="en-US" dirty="0"/>
              <a:t>All servers use static IPs.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77249-5321-4117-931C-58AEBE19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0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CD9D-5344-4795-876D-9D31C2B2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46"/>
            <a:ext cx="10515600" cy="1325563"/>
          </a:xfrm>
        </p:spPr>
        <p:txBody>
          <a:bodyPr/>
          <a:lstStyle/>
          <a:p>
            <a:r>
              <a:rPr lang="en-US" dirty="0"/>
              <a:t>Testing &amp; Troubleshooting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41879B-8E31-435C-A57E-347C38B72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3872174"/>
              </p:ext>
            </p:extLst>
          </p:nvPr>
        </p:nvGraphicFramePr>
        <p:xfrm>
          <a:off x="0" y="1336108"/>
          <a:ext cx="5364480" cy="5521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1030131665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539458848"/>
                    </a:ext>
                  </a:extLst>
                </a:gridCol>
              </a:tblGrid>
              <a:tr h="769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Fixed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038948"/>
                  </a:ext>
                </a:extLst>
              </a:tr>
              <a:tr h="769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Ping between all VLANs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Wrong VLAN tagging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596971"/>
                  </a:ext>
                </a:extLst>
              </a:tr>
              <a:tr h="769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Routing table propagation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ACL blocking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87197"/>
                  </a:ext>
                </a:extLst>
              </a:tr>
              <a:tr h="769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OSPF neighbor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FW blocking ICMP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382009"/>
                  </a:ext>
                </a:extLst>
              </a:tr>
              <a:tr h="9021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DHCP address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DHCP relay not enabled properly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327685"/>
                  </a:ext>
                </a:extLst>
              </a:tr>
              <a:tr h="769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Firewall permit/deny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895056"/>
                  </a:ext>
                </a:extLst>
              </a:tr>
              <a:tr h="769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Internet access (8.8.8.8)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81817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E3107-97AE-47EF-AF11-B989875A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4317B-C7AE-4151-BC7A-C6E854953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45465"/>
            <a:ext cx="6096000" cy="581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2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B5A6-9460-44A5-9A36-9E6EA30B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46DB-23CE-4ACA-A605-36F5F7A6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Fully functional enterprise network</a:t>
            </a:r>
          </a:p>
          <a:p>
            <a:pPr>
              <a:lnSpc>
                <a:spcPct val="150000"/>
              </a:lnSpc>
            </a:pPr>
            <a:r>
              <a:rPr lang="en-US" dirty="0"/>
              <a:t>Secure communication between departments</a:t>
            </a:r>
          </a:p>
          <a:p>
            <a:pPr>
              <a:lnSpc>
                <a:spcPct val="150000"/>
              </a:lnSpc>
            </a:pPr>
            <a:r>
              <a:rPr lang="en-US" dirty="0"/>
              <a:t>Internet connectivity for all VLANs</a:t>
            </a:r>
          </a:p>
          <a:p>
            <a:pPr>
              <a:lnSpc>
                <a:spcPct val="150000"/>
              </a:lnSpc>
            </a:pPr>
            <a:r>
              <a:rPr lang="en-US" dirty="0"/>
              <a:t>Centralized DHCP working</a:t>
            </a:r>
          </a:p>
          <a:p>
            <a:pPr>
              <a:lnSpc>
                <a:spcPct val="150000"/>
              </a:lnSpc>
            </a:pPr>
            <a:r>
              <a:rPr lang="en-US" dirty="0"/>
              <a:t>Routing stable via OSPF</a:t>
            </a:r>
          </a:p>
          <a:p>
            <a:pPr>
              <a:lnSpc>
                <a:spcPct val="150000"/>
              </a:lnSpc>
            </a:pPr>
            <a:r>
              <a:rPr lang="en-US" dirty="0"/>
              <a:t>Firewall policies applied correctly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7ADD9-828A-4487-8F9E-3C277987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8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5A48-DED9-45D0-8A09-BB793AFA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2AF3-83E6-4F53-86AC-BC2CED7F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Project achieved all goals</a:t>
            </a:r>
          </a:p>
          <a:p>
            <a:pPr>
              <a:lnSpc>
                <a:spcPct val="200000"/>
              </a:lnSpc>
            </a:pPr>
            <a:r>
              <a:rPr lang="en-US" dirty="0"/>
              <a:t>Network is secure, scalable, and future-ready</a:t>
            </a:r>
          </a:p>
          <a:p>
            <a:pPr>
              <a:lnSpc>
                <a:spcPct val="200000"/>
              </a:lnSpc>
            </a:pPr>
            <a:r>
              <a:rPr lang="en-US" dirty="0"/>
              <a:t>Supports servers, users, and management</a:t>
            </a:r>
          </a:p>
          <a:p>
            <a:pPr>
              <a:lnSpc>
                <a:spcPct val="200000"/>
              </a:lnSpc>
            </a:pPr>
            <a:r>
              <a:rPr lang="en-US" dirty="0"/>
              <a:t>Demonstrates complete enterprise data-center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B8389-A72C-40BD-8E0A-03C46437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382C0-1504-4427-B0CB-8387516C1EF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201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495</Words>
  <Application>Microsoft Office PowerPoint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Enterprise Network Infrastructure  Project</vt:lpstr>
      <vt:lpstr>Project Overview</vt:lpstr>
      <vt:lpstr>Project Goals</vt:lpstr>
      <vt:lpstr>Network Topology</vt:lpstr>
      <vt:lpstr>VLAN Design</vt:lpstr>
      <vt:lpstr>IP Addressing</vt:lpstr>
      <vt:lpstr>Routing (OSPF)</vt:lpstr>
      <vt:lpstr>Switching Configuration</vt:lpstr>
      <vt:lpstr>DHCP Configuration</vt:lpstr>
      <vt:lpstr>Security (ACL Rules)</vt:lpstr>
      <vt:lpstr>Firewall Security</vt:lpstr>
      <vt:lpstr>Server Infrastructure</vt:lpstr>
      <vt:lpstr>Testing &amp; Troubleshooting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Network Infrastructure  Project</dc:title>
  <dc:creator>omar elnahass</dc:creator>
  <cp:lastModifiedBy>omar elnahass</cp:lastModifiedBy>
  <cp:revision>9</cp:revision>
  <dcterms:created xsi:type="dcterms:W3CDTF">2025-12-01T13:37:37Z</dcterms:created>
  <dcterms:modified xsi:type="dcterms:W3CDTF">2025-12-01T14:28:59Z</dcterms:modified>
</cp:coreProperties>
</file>